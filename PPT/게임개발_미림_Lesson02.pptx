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8" r:id="rId5"/>
    <p:sldId id="269" r:id="rId6"/>
    <p:sldId id="270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1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384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38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136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104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006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180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61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075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128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30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358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67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444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7794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254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684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563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65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65CC27B-9A13-455F-B7D2-8D1B7C7D1547}" type="datetimeFigureOut">
              <a:rPr lang="ko-KR" altLang="en-US" smtClean="0"/>
              <a:t>2019-07-13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C3FCFF3-9F36-4068-A5C5-15ED908EAC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6052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1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719ADF9-40BA-42C1-B332-3EFB4D12A4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Lesson #2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39FC1B8C-E5EA-47DF-9289-3E184B32A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Windows programing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149419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5B6E52F-7F3D-420F-95EB-230D1FBA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차 </a:t>
            </a:r>
            <a:r>
              <a:rPr lang="ko-KR" altLang="en-US" dirty="0" err="1"/>
              <a:t>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BEBEC27-F08C-4A5B-B046-5F7A69D72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윈도우 프로그래밍</a:t>
            </a:r>
            <a:endParaRPr lang="en-US" altLang="ko-KR" dirty="0"/>
          </a:p>
          <a:p>
            <a:r>
              <a:rPr lang="en-US" altLang="ko-KR" dirty="0"/>
              <a:t>WinMain</a:t>
            </a:r>
          </a:p>
          <a:p>
            <a:pPr lvl="1"/>
            <a:r>
              <a:rPr lang="ko-KR" altLang="en-US" dirty="0"/>
              <a:t>윈도우 만들기</a:t>
            </a:r>
            <a:endParaRPr lang="en-US" altLang="ko-KR" dirty="0"/>
          </a:p>
          <a:p>
            <a:pPr lvl="1"/>
            <a:r>
              <a:rPr lang="ko-KR" altLang="en-US" dirty="0"/>
              <a:t>윈도우 클래스</a:t>
            </a:r>
            <a:r>
              <a:rPr lang="en-US" altLang="ko-KR" dirty="0"/>
              <a:t>, </a:t>
            </a:r>
            <a:r>
              <a:rPr lang="en-US" altLang="ko-KR" dirty="0" smtClean="0"/>
              <a:t>Register Class</a:t>
            </a:r>
            <a:endParaRPr lang="en-US" altLang="ko-KR" dirty="0"/>
          </a:p>
          <a:p>
            <a:pPr lvl="1"/>
            <a:r>
              <a:rPr lang="en-US" altLang="ko-KR" dirty="0" err="1"/>
              <a:t>CreateWindow</a:t>
            </a:r>
            <a:r>
              <a:rPr lang="en-US" altLang="ko-KR" dirty="0"/>
              <a:t>, </a:t>
            </a:r>
            <a:r>
              <a:rPr lang="en-US" altLang="ko-KR" dirty="0" err="1"/>
              <a:t>ShowWindow</a:t>
            </a:r>
            <a:endParaRPr lang="en-US" altLang="ko-KR" dirty="0"/>
          </a:p>
          <a:p>
            <a:pPr lvl="1"/>
            <a:r>
              <a:rPr lang="ko-KR" altLang="en-US" dirty="0"/>
              <a:t>메시지 루프 </a:t>
            </a:r>
            <a:r>
              <a:rPr lang="en-US" altLang="ko-KR" dirty="0"/>
              <a:t>- </a:t>
            </a:r>
            <a:r>
              <a:rPr lang="en-US" altLang="ko-KR" dirty="0" err="1"/>
              <a:t>GetMessage</a:t>
            </a:r>
            <a:endParaRPr lang="en-US" altLang="ko-KR" dirty="0"/>
          </a:p>
          <a:p>
            <a:r>
              <a:rPr lang="en-US" altLang="ko-KR" dirty="0"/>
              <a:t>WndProc</a:t>
            </a:r>
          </a:p>
          <a:p>
            <a:pPr lvl="1"/>
            <a:r>
              <a:rPr lang="ko-KR" altLang="en-US" dirty="0"/>
              <a:t>윈도우 프로시저</a:t>
            </a:r>
            <a:endParaRPr lang="en-US" altLang="ko-KR" dirty="0"/>
          </a:p>
          <a:p>
            <a:pPr lvl="1"/>
            <a:r>
              <a:rPr lang="ko-KR" altLang="en-US" dirty="0"/>
              <a:t>윈도우 메시지</a:t>
            </a:r>
            <a:endParaRPr lang="en-US" altLang="ko-KR" dirty="0"/>
          </a:p>
          <a:p>
            <a:pPr marL="450000" lvl="1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318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6E71E59-2E8B-458E-85E4-EB35ABEB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윈도우 프로그래밍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9458F72-3EC6-4E6C-8269-4E4B5342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주요 용어들</a:t>
            </a:r>
            <a:endParaRPr lang="en-US" altLang="ko-KR" dirty="0"/>
          </a:p>
          <a:p>
            <a:pPr lvl="1"/>
            <a:r>
              <a:rPr lang="ko-KR" altLang="en-US" dirty="0"/>
              <a:t>윈도우 </a:t>
            </a:r>
            <a:r>
              <a:rPr lang="en-US" altLang="ko-KR" dirty="0"/>
              <a:t>API (Windows API, Win32 API)</a:t>
            </a:r>
          </a:p>
          <a:p>
            <a:pPr lvl="2">
              <a:buFont typeface="Wingdings" panose="05000000000000000000" pitchFamily="2" charset="2"/>
              <a:buChar char="à"/>
            </a:pPr>
            <a:endParaRPr lang="en-US" altLang="ko-KR" dirty="0">
              <a:sym typeface="Wingdings" panose="05000000000000000000" pitchFamily="2" charset="2"/>
            </a:endParaRPr>
          </a:p>
          <a:p>
            <a:pPr marL="810000" lvl="2" indent="0">
              <a:buNone/>
            </a:pPr>
            <a:r>
              <a:rPr lang="ko-KR" altLang="en-US" dirty="0">
                <a:sym typeface="Wingdings" panose="05000000000000000000" pitchFamily="2" charset="2"/>
              </a:rPr>
              <a:t> 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API (Application Programing Interface)</a:t>
            </a:r>
          </a:p>
          <a:p>
            <a:pPr marL="810000" lvl="2" indent="0">
              <a:buNone/>
            </a:pPr>
            <a:endParaRPr lang="en-US" altLang="ko-KR" dirty="0"/>
          </a:p>
          <a:p>
            <a:pPr marL="810000" lvl="2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GDI ( Graphics Device Interface )</a:t>
            </a:r>
          </a:p>
          <a:p>
            <a:pPr marL="8100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87058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6E71E59-2E8B-458E-85E4-EB35ABEB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윈도우 프로그래밍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9458F72-3EC6-4E6C-8269-4E4B5342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주요 용어들</a:t>
            </a:r>
            <a:endParaRPr lang="en-US" altLang="ko-KR" dirty="0"/>
          </a:p>
          <a:p>
            <a:pPr lvl="1"/>
            <a:r>
              <a:rPr lang="ko-KR" altLang="en-US" dirty="0"/>
              <a:t>윈도우 </a:t>
            </a:r>
            <a:r>
              <a:rPr lang="en-US" altLang="ko-KR" dirty="0"/>
              <a:t>API (Windows API, Win32 API)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MS </a:t>
            </a:r>
            <a:r>
              <a:rPr lang="ko-KR" altLang="en-US" dirty="0">
                <a:sym typeface="Wingdings" panose="05000000000000000000" pitchFamily="2" charset="2"/>
              </a:rPr>
              <a:t>윈도 운영 체제들</a:t>
            </a:r>
            <a:r>
              <a:rPr lang="en-US" altLang="ko-KR" dirty="0">
                <a:sym typeface="Wingdings" panose="05000000000000000000" pitchFamily="2" charset="2"/>
              </a:rPr>
              <a:t>(Windows 10,Windows Server </a:t>
            </a:r>
            <a:r>
              <a:rPr lang="ko-KR" altLang="en-US" dirty="0">
                <a:sym typeface="Wingdings" panose="05000000000000000000" pitchFamily="2" charset="2"/>
              </a:rPr>
              <a:t>등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이 사용하는 </a:t>
            </a:r>
            <a:r>
              <a:rPr lang="en-US" altLang="ko-KR" dirty="0">
                <a:sym typeface="Wingdings" panose="05000000000000000000" pitchFamily="2" charset="2"/>
              </a:rPr>
              <a:t>API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C/C++ </a:t>
            </a:r>
            <a:r>
              <a:rPr lang="ko-KR" altLang="en-US" dirty="0">
                <a:sym typeface="Wingdings" panose="05000000000000000000" pitchFamily="2" charset="2"/>
              </a:rPr>
              <a:t>프로그램에서 직접 운영 체제와 상호 작용할 수 있도록 만들어짐 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API (Application Programing Interface)</a:t>
            </a:r>
          </a:p>
          <a:p>
            <a:pPr marL="810000" lvl="2" indent="0">
              <a:buNone/>
            </a:pPr>
            <a:endParaRPr lang="en-US" altLang="ko-KR" dirty="0"/>
          </a:p>
          <a:p>
            <a:pPr marL="810000" lvl="2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GDI ( Graphics Device Interface )</a:t>
            </a:r>
          </a:p>
        </p:txBody>
      </p:sp>
    </p:spTree>
    <p:extLst>
      <p:ext uri="{BB962C8B-B14F-4D97-AF65-F5344CB8AC3E}">
        <p14:creationId xmlns:p14="http://schemas.microsoft.com/office/powerpoint/2010/main" val="329946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6E71E59-2E8B-458E-85E4-EB35ABEB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윈도우 프로그래밍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9458F72-3EC6-4E6C-8269-4E4B5342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주요 용어들</a:t>
            </a:r>
            <a:endParaRPr lang="en-US" altLang="ko-KR" dirty="0"/>
          </a:p>
          <a:p>
            <a:pPr lvl="1"/>
            <a:r>
              <a:rPr lang="ko-KR" altLang="en-US" dirty="0"/>
              <a:t>윈도우 </a:t>
            </a:r>
            <a:r>
              <a:rPr lang="en-US" altLang="ko-KR" dirty="0"/>
              <a:t>API (Windows API, Win32 API)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MS </a:t>
            </a:r>
            <a:r>
              <a:rPr lang="ko-KR" altLang="en-US" dirty="0">
                <a:sym typeface="Wingdings" panose="05000000000000000000" pitchFamily="2" charset="2"/>
              </a:rPr>
              <a:t>윈도 운영 체제들</a:t>
            </a:r>
            <a:r>
              <a:rPr lang="en-US" altLang="ko-KR" dirty="0">
                <a:sym typeface="Wingdings" panose="05000000000000000000" pitchFamily="2" charset="2"/>
              </a:rPr>
              <a:t>(Windows 10,Windows Server </a:t>
            </a:r>
            <a:r>
              <a:rPr lang="ko-KR" altLang="en-US" dirty="0">
                <a:sym typeface="Wingdings" panose="05000000000000000000" pitchFamily="2" charset="2"/>
              </a:rPr>
              <a:t>등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이 사용하는 </a:t>
            </a:r>
            <a:r>
              <a:rPr lang="en-US" altLang="ko-KR" dirty="0">
                <a:sym typeface="Wingdings" panose="05000000000000000000" pitchFamily="2" charset="2"/>
              </a:rPr>
              <a:t>API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C/C++ </a:t>
            </a:r>
            <a:r>
              <a:rPr lang="ko-KR" altLang="en-US" dirty="0">
                <a:sym typeface="Wingdings" panose="05000000000000000000" pitchFamily="2" charset="2"/>
              </a:rPr>
              <a:t>프로그램에서 직접 운영 체제와 상호 작용할 수 있도록 만들어짐 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API (Application Programing Interface)</a:t>
            </a:r>
          </a:p>
          <a:p>
            <a:pPr marL="810000" lvl="2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응용 프로그램에서 사용할 수 있도록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운영 체제나 프로그래밍 언어가 제공하는 기능을 제어할 수 있게 만든 인터페이스</a:t>
            </a:r>
            <a:endParaRPr lang="en-US" altLang="ko-KR" dirty="0"/>
          </a:p>
          <a:p>
            <a:pPr lvl="1"/>
            <a:r>
              <a:rPr lang="en-US" altLang="ko-KR" dirty="0"/>
              <a:t>GDI ( Graphics Device Interface )</a:t>
            </a:r>
          </a:p>
          <a:p>
            <a:pPr marL="8100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69480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6E71E59-2E8B-458E-85E4-EB35ABEB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윈도우 프로그래밍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9458F72-3EC6-4E6C-8269-4E4B5342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주요 용어들</a:t>
            </a:r>
            <a:endParaRPr lang="en-US" altLang="ko-KR" dirty="0"/>
          </a:p>
          <a:p>
            <a:pPr lvl="1"/>
            <a:r>
              <a:rPr lang="ko-KR" altLang="en-US" dirty="0"/>
              <a:t>윈도우 </a:t>
            </a:r>
            <a:r>
              <a:rPr lang="en-US" altLang="ko-KR" dirty="0"/>
              <a:t>API (Windows API, Win32 API)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MS </a:t>
            </a:r>
            <a:r>
              <a:rPr lang="ko-KR" altLang="en-US" dirty="0">
                <a:sym typeface="Wingdings" panose="05000000000000000000" pitchFamily="2" charset="2"/>
              </a:rPr>
              <a:t>윈도 운영 체제들</a:t>
            </a:r>
            <a:r>
              <a:rPr lang="en-US" altLang="ko-KR" dirty="0">
                <a:sym typeface="Wingdings" panose="05000000000000000000" pitchFamily="2" charset="2"/>
              </a:rPr>
              <a:t>(Windows 10,Windows Server </a:t>
            </a:r>
            <a:r>
              <a:rPr lang="ko-KR" altLang="en-US" dirty="0">
                <a:sym typeface="Wingdings" panose="05000000000000000000" pitchFamily="2" charset="2"/>
              </a:rPr>
              <a:t>등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이 사용하는 </a:t>
            </a:r>
            <a:r>
              <a:rPr lang="en-US" altLang="ko-KR" dirty="0">
                <a:sym typeface="Wingdings" panose="05000000000000000000" pitchFamily="2" charset="2"/>
              </a:rPr>
              <a:t>API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C/C++ </a:t>
            </a:r>
            <a:r>
              <a:rPr lang="ko-KR" altLang="en-US" dirty="0">
                <a:sym typeface="Wingdings" panose="05000000000000000000" pitchFamily="2" charset="2"/>
              </a:rPr>
              <a:t>프로그램에서 직접 운영 체제와 상호 작용할 수 있도록 만들어짐 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API (Application Programing Interface)</a:t>
            </a:r>
          </a:p>
          <a:p>
            <a:pPr marL="810000" lvl="2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응용 프로그램에서 사용할 수 있도록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운영 체제나 프로그래밍 언어가 제공하는 기능을 제어할 수 있게 만든 인터페이스</a:t>
            </a:r>
            <a:endParaRPr lang="en-US" altLang="ko-KR" dirty="0"/>
          </a:p>
          <a:p>
            <a:pPr lvl="1"/>
            <a:r>
              <a:rPr lang="en-US" altLang="ko-KR" dirty="0"/>
              <a:t>GDI ( Graphics Device Interface )</a:t>
            </a:r>
          </a:p>
          <a:p>
            <a:pPr marL="810000" lvl="2" indent="0">
              <a:buNone/>
            </a:pPr>
            <a:r>
              <a:rPr lang="en-US" altLang="ko-KR">
                <a:sym typeface="Wingdings" panose="05000000000000000000" pitchFamily="2" charset="2"/>
              </a:rPr>
              <a:t> ?</a:t>
            </a:r>
            <a:endParaRPr lang="en-US" altLang="ko-KR" dirty="0"/>
          </a:p>
        </p:txBody>
      </p:sp>
      <p:sp>
        <p:nvSpPr>
          <p:cNvPr id="4" name="생각 풍선: 구름 모양 3">
            <a:extLst>
              <a:ext uri="{FF2B5EF4-FFF2-40B4-BE49-F238E27FC236}">
                <a16:creationId xmlns:a16="http://schemas.microsoft.com/office/drawing/2014/main" xmlns="" id="{B8556BDD-ABF5-4720-B205-2FE149CBC2EC}"/>
              </a:ext>
            </a:extLst>
          </p:cNvPr>
          <p:cNvSpPr/>
          <p:nvPr/>
        </p:nvSpPr>
        <p:spPr>
          <a:xfrm>
            <a:off x="2718032" y="4976072"/>
            <a:ext cx="2541864" cy="897622"/>
          </a:xfrm>
          <a:prstGeom prst="cloudCallout">
            <a:avLst>
              <a:gd name="adj1" fmla="val -69154"/>
              <a:gd name="adj2" fmla="val -5345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조사할 것</a:t>
            </a:r>
          </a:p>
        </p:txBody>
      </p:sp>
      <p:pic>
        <p:nvPicPr>
          <p:cNvPr id="3074" name="Picture 2" descr="관련 이미지">
            <a:extLst>
              <a:ext uri="{FF2B5EF4-FFF2-40B4-BE49-F238E27FC236}">
                <a16:creationId xmlns:a16="http://schemas.microsoft.com/office/drawing/2014/main" xmlns="" id="{981E344D-2C67-433B-ADCC-1CD806BAC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29863"/>
            <a:ext cx="5526457" cy="392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315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3B670CD-0360-4506-84BE-26634868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WinMain – </a:t>
            </a:r>
            <a:r>
              <a:rPr lang="ko-KR" altLang="en-US" dirty="0"/>
              <a:t>윈도우 만들기 </a:t>
            </a:r>
            <a:r>
              <a:rPr lang="en-US" altLang="ko-KR" dirty="0"/>
              <a:t>#1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7F3DDFBF-E05B-4D40-BD31-CAC2FE718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간단한 </a:t>
            </a:r>
            <a:r>
              <a:rPr lang="en-US" altLang="ko-KR" dirty="0"/>
              <a:t>Win32 API </a:t>
            </a:r>
            <a:r>
              <a:rPr lang="ko-KR" altLang="en-US" dirty="0"/>
              <a:t>프로그램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9576C393-3277-4E1A-8684-34DB9CC4D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26" y="2189171"/>
            <a:ext cx="11259748" cy="225699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4756391C-7166-44F2-8DC6-80C66314E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821" y="2539191"/>
            <a:ext cx="7768183" cy="40587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6848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E009266-C482-4D33-91B4-26F9F6EC5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WinMain – </a:t>
            </a:r>
            <a:r>
              <a:rPr lang="ko-KR" altLang="en-US" dirty="0"/>
              <a:t>윈도우 만들기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A67FE16-E067-4171-8000-0CADC5450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WinMain</a:t>
            </a:r>
          </a:p>
          <a:p>
            <a:pPr lvl="1"/>
            <a:r>
              <a:rPr lang="ko-KR" altLang="en-US" dirty="0"/>
              <a:t>윈도우 응용프로그램의 진입 점</a:t>
            </a:r>
            <a:endParaRPr lang="en-US" altLang="ko-KR" dirty="0"/>
          </a:p>
          <a:p>
            <a:pPr lvl="2"/>
            <a:r>
              <a:rPr lang="en-US" altLang="ko-KR" dirty="0" err="1"/>
              <a:t>hInstance</a:t>
            </a:r>
            <a:r>
              <a:rPr lang="en-US" altLang="ko-KR" dirty="0"/>
              <a:t> – </a:t>
            </a:r>
            <a:r>
              <a:rPr lang="ko-KR" altLang="en-US" dirty="0"/>
              <a:t>응용프로그램의 현재 </a:t>
            </a:r>
            <a:r>
              <a:rPr lang="ko-KR" altLang="en-US" b="1" dirty="0">
                <a:solidFill>
                  <a:srgbClr val="FFFF00"/>
                </a:solidFill>
              </a:rPr>
              <a:t>인스턴스</a:t>
            </a:r>
            <a:r>
              <a:rPr lang="ko-KR" altLang="en-US" dirty="0"/>
              <a:t>에 대한 </a:t>
            </a:r>
            <a:r>
              <a:rPr lang="ko-KR" altLang="en-US" b="1" dirty="0">
                <a:solidFill>
                  <a:srgbClr val="FFFF00"/>
                </a:solidFill>
              </a:rPr>
              <a:t>핸들</a:t>
            </a:r>
            <a:endParaRPr lang="en-US" altLang="ko-KR" b="1" dirty="0">
              <a:solidFill>
                <a:srgbClr val="FFFF00"/>
              </a:solidFill>
            </a:endParaRPr>
          </a:p>
          <a:p>
            <a:pPr lvl="2"/>
            <a:r>
              <a:rPr lang="en-US" altLang="ko-KR" dirty="0" err="1"/>
              <a:t>lpCmdLine</a:t>
            </a:r>
            <a:r>
              <a:rPr lang="en-US" altLang="ko-KR" dirty="0"/>
              <a:t> – </a:t>
            </a:r>
            <a:r>
              <a:rPr lang="ko-KR" altLang="en-US" dirty="0"/>
              <a:t>프로그램 이름을 제외한 응용 프로그램의 </a:t>
            </a:r>
            <a:r>
              <a:rPr lang="ko-KR" altLang="en-US" b="1" dirty="0">
                <a:solidFill>
                  <a:srgbClr val="FFFF00"/>
                </a:solidFill>
              </a:rPr>
              <a:t>명령 줄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전체 명령 행을 검색하려면 </a:t>
            </a:r>
            <a:r>
              <a:rPr lang="en-US" altLang="ko-KR" dirty="0" err="1"/>
              <a:t>GetCommnadLine</a:t>
            </a:r>
            <a:r>
              <a:rPr lang="en-US" altLang="ko-KR" dirty="0"/>
              <a:t> </a:t>
            </a:r>
            <a:r>
              <a:rPr lang="ko-KR" altLang="en-US" dirty="0"/>
              <a:t>함수를 사용해야 함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 err="1"/>
              <a:t>nShow</a:t>
            </a:r>
            <a:r>
              <a:rPr lang="en-US" altLang="ko-KR" dirty="0"/>
              <a:t> – </a:t>
            </a:r>
            <a:r>
              <a:rPr lang="ko-KR" altLang="en-US" dirty="0"/>
              <a:t>윈도우를 표시하는 방법을 제어함</a:t>
            </a:r>
            <a:r>
              <a:rPr lang="en-US" altLang="ko-KR" dirty="0"/>
              <a:t>. </a:t>
            </a:r>
            <a:r>
              <a:rPr lang="ko-KR" altLang="en-US" dirty="0"/>
              <a:t>아래 값들 중 하나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SW_HIDE,</a:t>
            </a:r>
            <a:r>
              <a:rPr lang="ko-KR" altLang="en-US" dirty="0"/>
              <a:t> </a:t>
            </a:r>
            <a:r>
              <a:rPr lang="en-US" altLang="ko-KR" dirty="0"/>
              <a:t>SW_MAXIMIZE, SW_MINIMIZE, SW_SHOW …</a:t>
            </a:r>
          </a:p>
          <a:p>
            <a:pPr lvl="3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7ACEB32A-6264-4734-83B0-DD88F1AB9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833" y="4339263"/>
            <a:ext cx="9611686" cy="2419380"/>
          </a:xfrm>
          <a:prstGeom prst="rect">
            <a:avLst/>
          </a:prstGeom>
        </p:spPr>
      </p:pic>
      <p:sp>
        <p:nvSpPr>
          <p:cNvPr id="7" name="생각 풍선: 구름 모양 6">
            <a:extLst>
              <a:ext uri="{FF2B5EF4-FFF2-40B4-BE49-F238E27FC236}">
                <a16:creationId xmlns:a16="http://schemas.microsoft.com/office/drawing/2014/main" xmlns="" id="{9C6FA13C-7026-4CB3-BC72-3E047A9BC23F}"/>
              </a:ext>
            </a:extLst>
          </p:cNvPr>
          <p:cNvSpPr/>
          <p:nvPr/>
        </p:nvSpPr>
        <p:spPr>
          <a:xfrm>
            <a:off x="7600427" y="4912438"/>
            <a:ext cx="3179428" cy="1273029"/>
          </a:xfrm>
          <a:prstGeom prst="cloudCallout">
            <a:avLst>
              <a:gd name="adj1" fmla="val -65339"/>
              <a:gd name="adj2" fmla="val 4997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헝가리안 표기법 </a:t>
            </a:r>
            <a:r>
              <a:rPr lang="en-US" altLang="ko-KR" dirty="0"/>
              <a:t>!!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6799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D20DB4B-DCBD-4231-9A36-487F753F9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WinMain – </a:t>
            </a:r>
            <a:r>
              <a:rPr lang="ko-KR" altLang="en-US" dirty="0"/>
              <a:t>윈도우 클래스</a:t>
            </a:r>
            <a:r>
              <a:rPr lang="en-US" altLang="ko-KR" dirty="0"/>
              <a:t>, </a:t>
            </a:r>
            <a:r>
              <a:rPr lang="en-US" altLang="ko-KR" dirty="0" err="1"/>
              <a:t>ResisterClass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13BEF13-3C42-4D0F-8D08-B03753D03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50"/>
            <a:ext cx="10353762" cy="2168431"/>
          </a:xfrm>
        </p:spPr>
        <p:txBody>
          <a:bodyPr>
            <a:normAutofit/>
          </a:bodyPr>
          <a:lstStyle/>
          <a:p>
            <a:r>
              <a:rPr lang="en-US" altLang="ko-KR" dirty="0"/>
              <a:t>WNDCLASS</a:t>
            </a:r>
          </a:p>
          <a:p>
            <a:r>
              <a:rPr lang="en-US" altLang="ko-KR" dirty="0" err="1"/>
              <a:t>LoadIcon</a:t>
            </a:r>
            <a:endParaRPr lang="en-US" altLang="ko-KR" dirty="0"/>
          </a:p>
          <a:p>
            <a:r>
              <a:rPr lang="en-US" altLang="ko-KR" dirty="0" err="1"/>
              <a:t>LoadCursor</a:t>
            </a:r>
            <a:endParaRPr lang="en-US" altLang="ko-KR" dirty="0"/>
          </a:p>
          <a:p>
            <a:r>
              <a:rPr lang="en-US" altLang="ko-KR" dirty="0" err="1"/>
              <a:t>GetStockObject</a:t>
            </a:r>
            <a:endParaRPr lang="en-US" altLang="ko-KR" dirty="0"/>
          </a:p>
          <a:p>
            <a:r>
              <a:rPr lang="en-US" altLang="ko-KR" dirty="0" err="1"/>
              <a:t>RegisterClass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E0812600-D64B-4D39-9BE0-4551DA8DC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248" y="3900881"/>
            <a:ext cx="8153503" cy="286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89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223E765-71A4-4CA9-8ACB-7142D2655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WinMain – </a:t>
            </a:r>
            <a:r>
              <a:rPr lang="en-US" altLang="ko-KR" dirty="0" err="1"/>
              <a:t>CreateWindow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759FA66-D3A6-4D7E-83C7-C966B4B6A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HWND</a:t>
            </a:r>
          </a:p>
          <a:p>
            <a:r>
              <a:rPr lang="en-US" altLang="ko-KR" dirty="0" err="1"/>
              <a:t>CreateWindow</a:t>
            </a:r>
            <a:endParaRPr lang="en-US" altLang="ko-KR" dirty="0"/>
          </a:p>
          <a:p>
            <a:pPr lvl="1"/>
            <a:r>
              <a:rPr lang="en-US" altLang="ko-KR" dirty="0"/>
              <a:t>WS_OVERLAPPEDWINDOW ( WS_TILEDWINDOW )</a:t>
            </a:r>
          </a:p>
          <a:p>
            <a:r>
              <a:rPr lang="en-US" altLang="ko-KR" dirty="0" err="1"/>
              <a:t>ShowWindow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BC34C100-A003-4813-872B-472C47EF8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33" y="4067874"/>
            <a:ext cx="9858486" cy="208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952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7A98081-A105-4CE8-B6E3-43E718239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WinMain – </a:t>
            </a:r>
            <a:r>
              <a:rPr lang="ko-KR" altLang="en-US" dirty="0"/>
              <a:t>메시지 루프</a:t>
            </a:r>
            <a:r>
              <a:rPr lang="en-US" altLang="ko-KR" dirty="0"/>
              <a:t>, </a:t>
            </a:r>
            <a:r>
              <a:rPr lang="en-US" altLang="ko-KR" dirty="0" err="1"/>
              <a:t>GetMessage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0C3C9F90-90B5-43CC-A728-9D57349CC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MSG</a:t>
            </a:r>
          </a:p>
          <a:p>
            <a:r>
              <a:rPr lang="en-US" altLang="ko-KR" dirty="0" err="1"/>
              <a:t>GetMessage</a:t>
            </a:r>
            <a:endParaRPr lang="en-US" altLang="ko-KR" dirty="0"/>
          </a:p>
          <a:p>
            <a:r>
              <a:rPr lang="en-US" altLang="ko-KR" dirty="0" err="1"/>
              <a:t>TranslateMessage</a:t>
            </a:r>
            <a:endParaRPr lang="en-US" altLang="ko-KR" dirty="0"/>
          </a:p>
          <a:p>
            <a:r>
              <a:rPr lang="en-US" altLang="ko-KR" dirty="0" err="1"/>
              <a:t>DispatchMessage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FD32699D-170E-416F-9FD2-6D16F87B4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26" y="4760493"/>
            <a:ext cx="7678658" cy="1753938"/>
          </a:xfrm>
          <a:prstGeom prst="rect">
            <a:avLst/>
          </a:prstGeom>
        </p:spPr>
      </p:pic>
      <p:pic>
        <p:nvPicPr>
          <p:cNvPr id="1026" name="Picture 2" descr="A simple Windows programming model">
            <a:extLst>
              <a:ext uri="{FF2B5EF4-FFF2-40B4-BE49-F238E27FC236}">
                <a16:creationId xmlns:a16="http://schemas.microsoft.com/office/drawing/2014/main" xmlns="" id="{A10F9DCE-803F-4AD5-A606-30756C3AC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775" y="0"/>
            <a:ext cx="4457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34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69A2628-F178-44A1-AC04-5DE66D390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WndProc – </a:t>
            </a:r>
            <a:r>
              <a:rPr lang="ko-KR" altLang="en-US" dirty="0"/>
              <a:t>윈도우 프로시저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C17AC4F-C30C-441D-835A-8F3C1E897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243724" cy="4058751"/>
          </a:xfrm>
        </p:spPr>
        <p:txBody>
          <a:bodyPr/>
          <a:lstStyle/>
          <a:p>
            <a:r>
              <a:rPr lang="ko-KR" altLang="en-US" dirty="0"/>
              <a:t>윈도우 프로시저</a:t>
            </a:r>
            <a:endParaRPr lang="en-US" altLang="ko-KR" dirty="0"/>
          </a:p>
          <a:p>
            <a:pPr lvl="1"/>
            <a:r>
              <a:rPr lang="ko-KR" altLang="en-US" dirty="0"/>
              <a:t>일종의 함수</a:t>
            </a:r>
            <a:endParaRPr lang="en-US" altLang="ko-KR" dirty="0"/>
          </a:p>
          <a:p>
            <a:pPr lvl="1"/>
            <a:r>
              <a:rPr lang="ko-KR" altLang="en-US" dirty="0"/>
              <a:t>윈도우에 전송된 모든 메시지를 수신하고 처리</a:t>
            </a:r>
            <a:endParaRPr lang="en-US" altLang="ko-KR" dirty="0"/>
          </a:p>
          <a:p>
            <a:pPr lvl="1"/>
            <a:r>
              <a:rPr lang="ko-KR" altLang="en-US" dirty="0"/>
              <a:t>모든 윈도우 응용프로그램에는 윈도우 프로시저가 존재</a:t>
            </a:r>
            <a:endParaRPr lang="en-US" altLang="ko-KR" dirty="0"/>
          </a:p>
          <a:p>
            <a:pPr lvl="1"/>
            <a:r>
              <a:rPr lang="ko-KR" altLang="en-US" dirty="0"/>
              <a:t>동일한 윈도우 클래스로 작성된 모든 윈도우는 동일한 윈도우 프로시저를 사용하여 메시지에 대응하게 됨</a:t>
            </a:r>
            <a:endParaRPr lang="en-US" altLang="ko-KR" dirty="0"/>
          </a:p>
          <a:p>
            <a:pPr marL="36900" indent="0">
              <a:buNone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6BCF6098-5B11-4F9F-9391-857EB203E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626" y="1904301"/>
            <a:ext cx="5406332" cy="4757885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xmlns="" id="{34CA4897-3B55-4334-A827-2AAC22BE1806}"/>
              </a:ext>
            </a:extLst>
          </p:cNvPr>
          <p:cNvSpPr/>
          <p:nvPr/>
        </p:nvSpPr>
        <p:spPr>
          <a:xfrm>
            <a:off x="6912528" y="3766657"/>
            <a:ext cx="4555222" cy="1812022"/>
          </a:xfrm>
          <a:prstGeom prst="round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xmlns="" id="{5636911D-EAEB-4811-B2BF-69BE3BD3D2AF}"/>
              </a:ext>
            </a:extLst>
          </p:cNvPr>
          <p:cNvSpPr/>
          <p:nvPr/>
        </p:nvSpPr>
        <p:spPr>
          <a:xfrm>
            <a:off x="3724712" y="5410200"/>
            <a:ext cx="2851709" cy="762000"/>
          </a:xfrm>
          <a:prstGeom prst="wedgeRoundRectCallout">
            <a:avLst>
              <a:gd name="adj1" fmla="val 63145"/>
              <a:gd name="adj2" fmla="val -50348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실질적은 윈도우 프로그래밍 동작 부분</a:t>
            </a:r>
          </a:p>
        </p:txBody>
      </p:sp>
    </p:spTree>
    <p:extLst>
      <p:ext uri="{BB962C8B-B14F-4D97-AF65-F5344CB8AC3E}">
        <p14:creationId xmlns:p14="http://schemas.microsoft.com/office/powerpoint/2010/main" val="824159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2E5BE43-6E65-427E-BC25-DF07E893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WndProc – </a:t>
            </a:r>
            <a:r>
              <a:rPr lang="ko-KR" altLang="en-US" dirty="0"/>
              <a:t>윈도우 메시지 </a:t>
            </a:r>
            <a:r>
              <a:rPr lang="en-US" altLang="ko-KR" dirty="0"/>
              <a:t>#1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04215ED-9767-4BD9-819C-E9B970AE9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CALLBACK</a:t>
            </a:r>
          </a:p>
          <a:p>
            <a:r>
              <a:rPr lang="en-US" altLang="ko-KR" dirty="0"/>
              <a:t>WPRAM</a:t>
            </a:r>
          </a:p>
          <a:p>
            <a:r>
              <a:rPr lang="en-US" altLang="ko-KR" dirty="0"/>
              <a:t>LPARAM</a:t>
            </a:r>
          </a:p>
          <a:p>
            <a:r>
              <a:rPr lang="en-US" altLang="ko-KR" dirty="0"/>
              <a:t>WM_DESTROY</a:t>
            </a:r>
          </a:p>
          <a:p>
            <a:r>
              <a:rPr lang="en-US" altLang="ko-KR" dirty="0" err="1"/>
              <a:t>PostQuitMessage</a:t>
            </a:r>
            <a:endParaRPr lang="en-US" altLang="ko-KR" dirty="0"/>
          </a:p>
          <a:p>
            <a:r>
              <a:rPr lang="en-US" altLang="ko-KR" dirty="0" err="1"/>
              <a:t>DefWindowProc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4E75A004-1E80-47F5-8A29-209A19725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359" y="4455603"/>
            <a:ext cx="8976633" cy="230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72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C864308-8BF0-40FB-BA77-3E12991B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WndProc – </a:t>
            </a:r>
            <a:r>
              <a:rPr lang="ko-KR" altLang="en-US" dirty="0"/>
              <a:t>윈도우 메시지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A789096-29FD-4C78-B7FF-463014A3B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자주 사용하는 윈도우 메시지</a:t>
            </a:r>
            <a:endParaRPr lang="en-US" altLang="ko-KR" dirty="0"/>
          </a:p>
          <a:p>
            <a:pPr lvl="1"/>
            <a:r>
              <a:rPr lang="en-US" altLang="ko-KR" dirty="0"/>
              <a:t>WM_CHAR</a:t>
            </a:r>
          </a:p>
          <a:p>
            <a:pPr lvl="1"/>
            <a:r>
              <a:rPr lang="en-US" altLang="ko-KR" dirty="0"/>
              <a:t>WM_COMMAND</a:t>
            </a:r>
          </a:p>
          <a:p>
            <a:pPr lvl="1"/>
            <a:r>
              <a:rPr lang="en-US" altLang="ko-KR" dirty="0"/>
              <a:t>WM_CREATE</a:t>
            </a:r>
          </a:p>
          <a:p>
            <a:pPr lvl="1"/>
            <a:r>
              <a:rPr lang="en-US" altLang="ko-KR" dirty="0"/>
              <a:t>WM_DESTROY</a:t>
            </a:r>
          </a:p>
          <a:p>
            <a:pPr lvl="1"/>
            <a:r>
              <a:rPr lang="en-US" altLang="ko-KR" dirty="0"/>
              <a:t>WM_LBUTTONDOWN</a:t>
            </a:r>
          </a:p>
          <a:p>
            <a:pPr lvl="1"/>
            <a:r>
              <a:rPr lang="en-US" altLang="ko-KR" dirty="0"/>
              <a:t>WM_LBUTTONUP</a:t>
            </a:r>
          </a:p>
          <a:p>
            <a:pPr lvl="1"/>
            <a:r>
              <a:rPr lang="en-US" altLang="ko-KR" dirty="0"/>
              <a:t>WM_MOUSEMOVE</a:t>
            </a:r>
          </a:p>
          <a:p>
            <a:pPr lvl="1"/>
            <a:r>
              <a:rPr lang="en-US" altLang="ko-KR" dirty="0"/>
              <a:t>WM_PAINT</a:t>
            </a:r>
          </a:p>
          <a:p>
            <a:pPr lvl="1"/>
            <a:r>
              <a:rPr lang="en-US" altLang="ko-KR" dirty="0"/>
              <a:t>WM_QUIT</a:t>
            </a:r>
          </a:p>
          <a:p>
            <a:pPr lvl="1"/>
            <a:r>
              <a:rPr lang="en-US" altLang="ko-KR" dirty="0"/>
              <a:t>WM_SIZE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7077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C864308-8BF0-40FB-BA77-3E12991B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WndProc – </a:t>
            </a:r>
            <a:r>
              <a:rPr lang="ko-KR" altLang="en-US" dirty="0"/>
              <a:t>윈도우 메시지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A789096-29FD-4C78-B7FF-463014A3B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자주 사용하는 윈도우 메시지</a:t>
            </a:r>
            <a:endParaRPr lang="en-US" altLang="ko-KR" dirty="0"/>
          </a:p>
          <a:p>
            <a:pPr lvl="1"/>
            <a:r>
              <a:rPr lang="en-US" altLang="ko-KR" dirty="0"/>
              <a:t>WM_CHAR</a:t>
            </a:r>
          </a:p>
          <a:p>
            <a:pPr lvl="1"/>
            <a:r>
              <a:rPr lang="en-US" altLang="ko-KR" dirty="0"/>
              <a:t>WM_COMMAND</a:t>
            </a:r>
          </a:p>
          <a:p>
            <a:pPr lvl="1"/>
            <a:r>
              <a:rPr lang="en-US" altLang="ko-KR" dirty="0"/>
              <a:t>WM_CREATE</a:t>
            </a:r>
          </a:p>
          <a:p>
            <a:pPr lvl="1"/>
            <a:r>
              <a:rPr lang="en-US" altLang="ko-KR" dirty="0"/>
              <a:t>WM_DESTROY</a:t>
            </a:r>
          </a:p>
          <a:p>
            <a:pPr lvl="1"/>
            <a:r>
              <a:rPr lang="en-US" altLang="ko-KR" dirty="0"/>
              <a:t>WM_LBUTTONDOWN</a:t>
            </a:r>
          </a:p>
          <a:p>
            <a:pPr lvl="1"/>
            <a:r>
              <a:rPr lang="en-US" altLang="ko-KR" dirty="0"/>
              <a:t>WM_LBUTTONUP</a:t>
            </a:r>
          </a:p>
          <a:p>
            <a:pPr lvl="1"/>
            <a:r>
              <a:rPr lang="en-US" altLang="ko-KR" dirty="0"/>
              <a:t>WM_MOUSEMOVE</a:t>
            </a:r>
          </a:p>
          <a:p>
            <a:pPr lvl="1"/>
            <a:r>
              <a:rPr lang="en-US" altLang="ko-KR" dirty="0"/>
              <a:t>WM_PAINT</a:t>
            </a:r>
          </a:p>
          <a:p>
            <a:pPr lvl="1"/>
            <a:r>
              <a:rPr lang="en-US" altLang="ko-KR" dirty="0"/>
              <a:t>WM_QUIT</a:t>
            </a:r>
          </a:p>
          <a:p>
            <a:pPr lvl="1"/>
            <a:r>
              <a:rPr lang="en-US" altLang="ko-KR" dirty="0"/>
              <a:t>WM_SIZE</a:t>
            </a:r>
          </a:p>
          <a:p>
            <a:pPr lvl="1"/>
            <a:endParaRPr lang="ko-KR" altLang="en-US" dirty="0"/>
          </a:p>
        </p:txBody>
      </p:sp>
      <p:sp>
        <p:nvSpPr>
          <p:cNvPr id="4" name="생각 풍선: 구름 모양 3">
            <a:extLst>
              <a:ext uri="{FF2B5EF4-FFF2-40B4-BE49-F238E27FC236}">
                <a16:creationId xmlns:a16="http://schemas.microsoft.com/office/drawing/2014/main" xmlns="" id="{A4220E43-A791-4CB3-93B9-D888C53F0B90}"/>
              </a:ext>
            </a:extLst>
          </p:cNvPr>
          <p:cNvSpPr/>
          <p:nvPr/>
        </p:nvSpPr>
        <p:spPr>
          <a:xfrm>
            <a:off x="167779" y="479572"/>
            <a:ext cx="2541864" cy="897622"/>
          </a:xfrm>
          <a:prstGeom prst="cloudCallout">
            <a:avLst>
              <a:gd name="adj1" fmla="val 39757"/>
              <a:gd name="adj2" fmla="val 8392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조사할 것 들</a:t>
            </a:r>
          </a:p>
        </p:txBody>
      </p:sp>
      <p:pic>
        <p:nvPicPr>
          <p:cNvPr id="2050" name="Picture 2" descr="짤방에 대한 이미지 검색결과">
            <a:extLst>
              <a:ext uri="{FF2B5EF4-FFF2-40B4-BE49-F238E27FC236}">
                <a16:creationId xmlns:a16="http://schemas.microsoft.com/office/drawing/2014/main" xmlns="" id="{8E7EB68A-3D76-4133-A164-4F6E96B10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742" y="1992569"/>
            <a:ext cx="5621291" cy="395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465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xmlns="" id="{BE16BF58-979E-4FEF-8B6C-C9CD4C8E8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코딩 실습 과</a:t>
            </a:r>
            <a:r>
              <a:rPr lang="en-US" altLang="ko-KR" dirty="0"/>
              <a:t> Q&amp;A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xmlns="" id="{9A542E3B-C810-4E81-9100-DB052921E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4354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슬레이트">
  <a:themeElements>
    <a:clrScheme name="슬레이트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슬레이트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슬레이트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슬레이트</Template>
  <TotalTime>207</TotalTime>
  <Words>440</Words>
  <Application>Microsoft Office PowerPoint</Application>
  <PresentationFormat>와이드스크린</PresentationFormat>
  <Paragraphs>115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돋움</vt:lpstr>
      <vt:lpstr>Calisto MT</vt:lpstr>
      <vt:lpstr>Trebuchet MS</vt:lpstr>
      <vt:lpstr>Wingdings</vt:lpstr>
      <vt:lpstr>Wingdings 2</vt:lpstr>
      <vt:lpstr>슬레이트</vt:lpstr>
      <vt:lpstr>Lesson #2</vt:lpstr>
      <vt:lpstr>차 례</vt:lpstr>
      <vt:lpstr>윈도우 프로그래밍</vt:lpstr>
      <vt:lpstr>윈도우 프로그래밍</vt:lpstr>
      <vt:lpstr>윈도우 프로그래밍</vt:lpstr>
      <vt:lpstr>윈도우 프로그래밍</vt:lpstr>
      <vt:lpstr>WinMain – 윈도우 만들기 #1</vt:lpstr>
      <vt:lpstr>WinMain – 윈도우 만들기 #2</vt:lpstr>
      <vt:lpstr>WinMain – 윈도우 클래스, ResisterClass</vt:lpstr>
      <vt:lpstr>WinMain – CreateWindow</vt:lpstr>
      <vt:lpstr>WinMain – 메시지 루프, GetMessage</vt:lpstr>
      <vt:lpstr>WndProc – 윈도우 프로시저</vt:lpstr>
      <vt:lpstr>WndProc – 윈도우 메시지 #1 </vt:lpstr>
      <vt:lpstr>WndProc – 윈도우 메시지 #2</vt:lpstr>
      <vt:lpstr>WndProc – 윈도우 메시지 #2</vt:lpstr>
      <vt:lpstr>코딩 실습 과 Q&amp;A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#2</dc:title>
  <dc:creator>김안석</dc:creator>
  <cp:lastModifiedBy>이 예슬</cp:lastModifiedBy>
  <cp:revision>14</cp:revision>
  <dcterms:created xsi:type="dcterms:W3CDTF">2017-12-30T08:08:23Z</dcterms:created>
  <dcterms:modified xsi:type="dcterms:W3CDTF">2019-07-13T04:36:50Z</dcterms:modified>
</cp:coreProperties>
</file>