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66" r:id="rId11"/>
    <p:sldId id="267" r:id="rId12"/>
    <p:sldId id="263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강의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00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7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726610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931025"/>
            <a:ext cx="10353762" cy="576903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85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406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84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64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98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97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82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02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325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512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7678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663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423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038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764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43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5187782-DEF1-4DD9-A77B-EAA2F917CA14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26CE3CB-FC83-4F9F-A420-EB96F6F675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0007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4511-C84B-42DA-B89A-546A4C952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Lesson</a:t>
            </a:r>
            <a:r>
              <a:rPr lang="ko-KR" altLang="en-US" dirty="0"/>
              <a:t> </a:t>
            </a:r>
            <a:r>
              <a:rPr lang="en-US" altLang="ko-KR" dirty="0"/>
              <a:t>#4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002CFF-8B40-49C6-9644-16B8E3BBA7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DirectX programming - </a:t>
            </a:r>
            <a:r>
              <a:rPr lang="ko-KR" altLang="en-US" dirty="0"/>
              <a:t>이미지</a:t>
            </a:r>
            <a:r>
              <a:rPr lang="en-US" altLang="ko-KR" dirty="0"/>
              <a:t> </a:t>
            </a:r>
            <a:r>
              <a:rPr lang="ko-KR" altLang="en-US" dirty="0"/>
              <a:t>제어 </a:t>
            </a:r>
            <a:r>
              <a:rPr lang="en-US" altLang="ko-KR"/>
              <a:t>#1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42862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769CA-B803-4C83-967F-942F98529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E93BE6-2A13-43A8-9A6C-0391AE5F1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Surface (</a:t>
            </a:r>
            <a:r>
              <a:rPr lang="ko-KR" altLang="en-US" dirty="0"/>
              <a:t>표면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Offscreen Surface</a:t>
            </a:r>
          </a:p>
          <a:p>
            <a:r>
              <a:rPr lang="en-US" altLang="ko-KR" dirty="0"/>
              <a:t>Surface</a:t>
            </a:r>
            <a:r>
              <a:rPr lang="ko-KR" altLang="en-US" dirty="0"/>
              <a:t> 색상 칠하기</a:t>
            </a:r>
            <a:endParaRPr lang="en-US" altLang="ko-KR" dirty="0"/>
          </a:p>
          <a:p>
            <a:r>
              <a:rPr lang="en-US" altLang="ko-KR" dirty="0" err="1"/>
              <a:t>BackBuffer</a:t>
            </a:r>
            <a:r>
              <a:rPr lang="ko-KR" altLang="en-US" dirty="0"/>
              <a:t> 얻기</a:t>
            </a:r>
            <a:endParaRPr lang="en-US" altLang="ko-KR" dirty="0"/>
          </a:p>
          <a:p>
            <a:r>
              <a:rPr lang="en-US" altLang="ko-KR" dirty="0" err="1"/>
              <a:t>BackBuffer</a:t>
            </a:r>
            <a:r>
              <a:rPr lang="en-US" altLang="ko-KR" dirty="0"/>
              <a:t> </a:t>
            </a:r>
            <a:r>
              <a:rPr lang="ko-KR" altLang="en-US" dirty="0"/>
              <a:t>에 그리기</a:t>
            </a:r>
            <a:endParaRPr lang="en-US" altLang="ko-KR" dirty="0"/>
          </a:p>
          <a:p>
            <a:r>
              <a:rPr lang="en-US" altLang="ko-KR" dirty="0"/>
              <a:t>Surface </a:t>
            </a:r>
            <a:r>
              <a:rPr lang="ko-KR" altLang="en-US" dirty="0"/>
              <a:t>이미지 로드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1762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A89B1-39AF-42FE-8475-0E4735AD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51BB30-3D02-4434-8947-AAAAC7D55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HW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/>
              <a:t>비디오 메모리 혹은 시스템 메모리의 선형 영역</a:t>
            </a:r>
            <a:endParaRPr lang="en-US" altLang="ko-KR" dirty="0"/>
          </a:p>
          <a:p>
            <a:r>
              <a:rPr lang="ko-KR" altLang="en-US" dirty="0"/>
              <a:t>그래픽 데이터 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,</a:t>
            </a:r>
            <a:r>
              <a:rPr lang="ko-KR" altLang="en-US" dirty="0"/>
              <a:t>문자 등</a:t>
            </a:r>
            <a:r>
              <a:rPr lang="en-US" altLang="ko-KR" dirty="0"/>
              <a:t>)</a:t>
            </a:r>
            <a:r>
              <a:rPr lang="ko-KR" altLang="en-US" dirty="0"/>
              <a:t>를 담기 사용하는 공간</a:t>
            </a:r>
            <a:endParaRPr lang="en-US" altLang="ko-KR" dirty="0"/>
          </a:p>
          <a:p>
            <a:r>
              <a:rPr lang="en-US" altLang="ko-KR" dirty="0"/>
              <a:t>Front</a:t>
            </a:r>
            <a:r>
              <a:rPr lang="ko-KR" altLang="en-US" dirty="0"/>
              <a:t> </a:t>
            </a:r>
            <a:r>
              <a:rPr lang="en-US" altLang="ko-KR" dirty="0"/>
              <a:t>Buffer,</a:t>
            </a:r>
            <a:r>
              <a:rPr lang="ko-KR" altLang="en-US" dirty="0"/>
              <a:t> </a:t>
            </a:r>
            <a:r>
              <a:rPr lang="en-US" altLang="ko-KR" dirty="0"/>
              <a:t>Back</a:t>
            </a:r>
            <a:r>
              <a:rPr lang="ko-KR" altLang="en-US" dirty="0"/>
              <a:t> </a:t>
            </a:r>
            <a:r>
              <a:rPr lang="en-US" altLang="ko-KR" dirty="0"/>
              <a:t>Buffer </a:t>
            </a:r>
            <a:r>
              <a:rPr lang="en-US" altLang="ko-KR" dirty="0">
                <a:sym typeface="Wingdings" panose="05000000000000000000" pitchFamily="2" charset="2"/>
              </a:rPr>
              <a:t> Surface </a:t>
            </a:r>
            <a:r>
              <a:rPr lang="ko-KR" altLang="en-US" dirty="0">
                <a:sym typeface="Wingdings" panose="05000000000000000000" pitchFamily="2" charset="2"/>
              </a:rPr>
              <a:t>의 한 종류</a:t>
            </a:r>
            <a:r>
              <a:rPr lang="en-US" altLang="ko-KR" dirty="0">
                <a:sym typeface="Wingdings" panose="05000000000000000000" pitchFamily="2" charset="2"/>
              </a:rPr>
              <a:t>, Screen Buffer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Offscreen Buffer  </a:t>
            </a:r>
            <a:r>
              <a:rPr lang="ko-KR" altLang="en-US" dirty="0">
                <a:sym typeface="Wingdings" panose="05000000000000000000" pitchFamily="2" charset="2"/>
              </a:rPr>
              <a:t>이제 배울 내용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IDirect3DSurface9 </a:t>
            </a:r>
            <a:r>
              <a:rPr lang="ko-KR" altLang="en-US" dirty="0">
                <a:sym typeface="Wingdings" panose="05000000000000000000" pitchFamily="2" charset="2"/>
              </a:rPr>
              <a:t>인터페이스로 제어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가지 타입으로 생성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0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624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A89B1-39AF-42FE-8475-0E4735AD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51BB30-3D02-4434-8947-AAAAC7D55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HW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/>
              <a:t>비디오 메모리 혹은 시스템 메모리의 선형 영역</a:t>
            </a:r>
            <a:endParaRPr lang="en-US" altLang="ko-KR" dirty="0"/>
          </a:p>
          <a:p>
            <a:r>
              <a:rPr lang="ko-KR" altLang="en-US" dirty="0"/>
              <a:t>그래픽 데이터 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,</a:t>
            </a:r>
            <a:r>
              <a:rPr lang="ko-KR" altLang="en-US" dirty="0"/>
              <a:t>문자 등</a:t>
            </a:r>
            <a:r>
              <a:rPr lang="en-US" altLang="ko-KR" dirty="0"/>
              <a:t>)</a:t>
            </a:r>
            <a:r>
              <a:rPr lang="ko-KR" altLang="en-US" dirty="0"/>
              <a:t>를 담기 사용하는 공간</a:t>
            </a:r>
            <a:endParaRPr lang="en-US" altLang="ko-KR" dirty="0"/>
          </a:p>
          <a:p>
            <a:r>
              <a:rPr lang="en-US" altLang="ko-KR" dirty="0"/>
              <a:t>Front</a:t>
            </a:r>
            <a:r>
              <a:rPr lang="ko-KR" altLang="en-US" dirty="0"/>
              <a:t> </a:t>
            </a:r>
            <a:r>
              <a:rPr lang="en-US" altLang="ko-KR" dirty="0"/>
              <a:t>Buffer,</a:t>
            </a:r>
            <a:r>
              <a:rPr lang="ko-KR" altLang="en-US" dirty="0"/>
              <a:t> </a:t>
            </a:r>
            <a:r>
              <a:rPr lang="en-US" altLang="ko-KR" dirty="0"/>
              <a:t>Back</a:t>
            </a:r>
            <a:r>
              <a:rPr lang="ko-KR" altLang="en-US" dirty="0"/>
              <a:t> </a:t>
            </a:r>
            <a:r>
              <a:rPr lang="en-US" altLang="ko-KR" dirty="0"/>
              <a:t>Buffer </a:t>
            </a:r>
            <a:r>
              <a:rPr lang="en-US" altLang="ko-KR" dirty="0">
                <a:sym typeface="Wingdings" panose="05000000000000000000" pitchFamily="2" charset="2"/>
              </a:rPr>
              <a:t> Surface </a:t>
            </a:r>
            <a:r>
              <a:rPr lang="ko-KR" altLang="en-US" dirty="0">
                <a:sym typeface="Wingdings" panose="05000000000000000000" pitchFamily="2" charset="2"/>
              </a:rPr>
              <a:t>의 한 종류</a:t>
            </a:r>
            <a:r>
              <a:rPr lang="en-US" altLang="ko-KR" dirty="0">
                <a:sym typeface="Wingdings" panose="05000000000000000000" pitchFamily="2" charset="2"/>
              </a:rPr>
              <a:t>, Screen Buffer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Offscreen Buffer  </a:t>
            </a:r>
            <a:r>
              <a:rPr lang="ko-KR" altLang="en-US" dirty="0">
                <a:sym typeface="Wingdings" panose="05000000000000000000" pitchFamily="2" charset="2"/>
              </a:rPr>
              <a:t>이제 배울 내용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IDirect3DSurface9 </a:t>
            </a:r>
            <a:r>
              <a:rPr lang="ko-KR" altLang="en-US" dirty="0">
                <a:sym typeface="Wingdings" panose="05000000000000000000" pitchFamily="2" charset="2"/>
              </a:rPr>
              <a:t>인터페이스로 제어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가지 타입으로 생성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rgbClr val="92D050"/>
                </a:solidFill>
                <a:sym typeface="Wingdings" panose="05000000000000000000" pitchFamily="2" charset="2"/>
              </a:rPr>
              <a:t>CreateDepthStencilSurface</a:t>
            </a:r>
            <a:endParaRPr lang="en-US" altLang="ko-KR" dirty="0">
              <a:solidFill>
                <a:srgbClr val="92D050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rgbClr val="92D050"/>
                </a:solidFill>
                <a:sym typeface="Wingdings" panose="05000000000000000000" pitchFamily="2" charset="2"/>
              </a:rPr>
              <a:t>CreateRenderTarget</a:t>
            </a:r>
            <a:endParaRPr lang="en-US" altLang="ko-KR" dirty="0">
              <a:solidFill>
                <a:srgbClr val="92D050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CreateOffscreenPlainSurface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0000" lvl="1" indent="0">
              <a:buNone/>
            </a:pPr>
            <a:endParaRPr lang="en-US" altLang="ko-KR" dirty="0"/>
          </a:p>
        </p:txBody>
      </p:sp>
      <p:sp>
        <p:nvSpPr>
          <p:cNvPr id="4" name="생각 풍선: 구름 모양 3">
            <a:extLst>
              <a:ext uri="{FF2B5EF4-FFF2-40B4-BE49-F238E27FC236}">
                <a16:creationId xmlns:a16="http://schemas.microsoft.com/office/drawing/2014/main" id="{B4DF295A-FD35-47D0-8FE9-5D4A12308400}"/>
              </a:ext>
            </a:extLst>
          </p:cNvPr>
          <p:cNvSpPr/>
          <p:nvPr/>
        </p:nvSpPr>
        <p:spPr>
          <a:xfrm>
            <a:off x="5151562" y="3970638"/>
            <a:ext cx="2541864" cy="1691064"/>
          </a:xfrm>
          <a:prstGeom prst="cloudCallout">
            <a:avLst>
              <a:gd name="adj1" fmla="val -78164"/>
              <a:gd name="adj2" fmla="val 41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아직 몰라도 되지만</a:t>
            </a:r>
            <a:r>
              <a:rPr lang="en-US" altLang="ko-KR" dirty="0"/>
              <a:t>,</a:t>
            </a:r>
          </a:p>
          <a:p>
            <a:pPr algn="ctr"/>
            <a:r>
              <a:rPr lang="ko-KR" altLang="en-US" dirty="0"/>
              <a:t>궁금하면 조사해 볼 것</a:t>
            </a:r>
            <a:endParaRPr lang="en-US" altLang="ko-KR" dirty="0"/>
          </a:p>
        </p:txBody>
      </p:sp>
      <p:pic>
        <p:nvPicPr>
          <p:cNvPr id="1028" name="Picture 4" descr="짤방에 대한 이미지 검색결과">
            <a:extLst>
              <a:ext uri="{FF2B5EF4-FFF2-40B4-BE49-F238E27FC236}">
                <a16:creationId xmlns:a16="http://schemas.microsoft.com/office/drawing/2014/main" id="{6AA238B2-490A-48FA-BC8D-8B7AB8D13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319" y="2855726"/>
            <a:ext cx="3849874" cy="384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226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28576E-D8F3-4A5B-9248-55D7E0083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Offscreen</a:t>
            </a:r>
            <a:r>
              <a:rPr lang="ko-KR" altLang="en-US" dirty="0"/>
              <a:t> </a:t>
            </a:r>
            <a:r>
              <a:rPr lang="en-US" altLang="ko-KR" dirty="0"/>
              <a:t>Surface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D9BF4F-810E-4A78-B279-E434BD0ED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메모리</a:t>
            </a:r>
            <a:r>
              <a:rPr lang="en-US" altLang="ko-KR" dirty="0"/>
              <a:t>(</a:t>
            </a:r>
            <a:r>
              <a:rPr lang="ko-KR" altLang="en-US" dirty="0"/>
              <a:t>비디오</a:t>
            </a:r>
            <a:r>
              <a:rPr lang="en-US" altLang="ko-KR" dirty="0"/>
              <a:t>,</a:t>
            </a:r>
            <a:r>
              <a:rPr lang="ko-KR" altLang="en-US" dirty="0"/>
              <a:t>시스템</a:t>
            </a:r>
            <a:r>
              <a:rPr lang="en-US" altLang="ko-KR" dirty="0"/>
              <a:t>)</a:t>
            </a:r>
            <a:r>
              <a:rPr lang="ko-KR" altLang="en-US" dirty="0"/>
              <a:t> 안에 만들어지는 데이터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,</a:t>
            </a:r>
            <a:r>
              <a:rPr lang="ko-KR" altLang="en-US" dirty="0"/>
              <a:t>픽셀</a:t>
            </a:r>
            <a:r>
              <a:rPr lang="en-US" altLang="ko-KR" dirty="0"/>
              <a:t>,</a:t>
            </a:r>
            <a:r>
              <a:rPr lang="ko-KR" altLang="en-US" dirty="0"/>
              <a:t>문자</a:t>
            </a:r>
            <a:r>
              <a:rPr lang="en-US" altLang="ko-KR" dirty="0"/>
              <a:t>)</a:t>
            </a:r>
            <a:r>
              <a:rPr lang="ko-KR" altLang="en-US" dirty="0"/>
              <a:t> 저장용 선형 공간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B3FD6C-81B4-48F8-A071-409998AB2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474" y="2278977"/>
            <a:ext cx="7139052" cy="433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6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3F4B5-0D78-4FD6-85EE-B18F33EBF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1C1678-C3C5-41AA-B1AF-D6926FC8B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Width, Height – </a:t>
            </a:r>
            <a:r>
              <a:rPr lang="ko-KR" altLang="en-US" dirty="0"/>
              <a:t>버퍼의 크기</a:t>
            </a:r>
            <a:endParaRPr lang="en-US" altLang="ko-KR" dirty="0"/>
          </a:p>
          <a:p>
            <a:r>
              <a:rPr lang="en-US" altLang="ko-KR" dirty="0"/>
              <a:t>Format – </a:t>
            </a:r>
            <a:r>
              <a:rPr lang="ko-KR" altLang="en-US" dirty="0"/>
              <a:t>버퍼의 포맷</a:t>
            </a:r>
            <a:r>
              <a:rPr lang="en-US" altLang="ko-KR" dirty="0"/>
              <a:t>, RGB, ARGB </a:t>
            </a:r>
            <a:r>
              <a:rPr lang="ko-KR" altLang="en-US" dirty="0"/>
              <a:t>또는 버퍼의 특수 기능에 따른 포맷을 설정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Pool – Surface </a:t>
            </a:r>
            <a:r>
              <a:rPr lang="ko-KR" altLang="en-US" dirty="0"/>
              <a:t>가 생성될 메모리의 위치</a:t>
            </a:r>
            <a:r>
              <a:rPr lang="en-US" altLang="ko-KR" dirty="0"/>
              <a:t>. VRAM, System Memory </a:t>
            </a:r>
            <a:r>
              <a:rPr lang="ko-KR" altLang="en-US" dirty="0"/>
              <a:t>등 선택 가능</a:t>
            </a:r>
            <a:endParaRPr lang="en-US" altLang="ko-KR" dirty="0"/>
          </a:p>
          <a:p>
            <a:r>
              <a:rPr lang="en-US" altLang="ko-KR" dirty="0" err="1"/>
              <a:t>ppSurface</a:t>
            </a:r>
            <a:r>
              <a:rPr lang="en-US" altLang="ko-KR" dirty="0"/>
              <a:t> – </a:t>
            </a:r>
            <a:r>
              <a:rPr lang="ko-KR" altLang="en-US" dirty="0"/>
              <a:t>생성된 </a:t>
            </a:r>
            <a:r>
              <a:rPr lang="en-US" altLang="ko-KR" dirty="0"/>
              <a:t>Surface </a:t>
            </a:r>
            <a:r>
              <a:rPr lang="ko-KR" altLang="en-US" dirty="0"/>
              <a:t>의 인터페이스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5DB18E-200B-492B-8DB7-6023E6E59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976" y="991880"/>
            <a:ext cx="7970250" cy="28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0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EE3DF3-B40C-4450-A62F-B3FF4157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Surface </a:t>
            </a:r>
            <a:r>
              <a:rPr lang="ko-KR" altLang="en-US" dirty="0"/>
              <a:t>색상 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BFC56C-5B20-426C-90BA-A7203EE96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주어진 </a:t>
            </a:r>
            <a:r>
              <a:rPr lang="en-US" altLang="ko-KR" dirty="0"/>
              <a:t>Surface </a:t>
            </a:r>
            <a:r>
              <a:rPr lang="ko-KR" altLang="en-US" dirty="0"/>
              <a:t>를 </a:t>
            </a:r>
            <a:r>
              <a:rPr lang="en-US" altLang="ko-KR" dirty="0"/>
              <a:t>color </a:t>
            </a:r>
            <a:r>
              <a:rPr lang="ko-KR" altLang="en-US" dirty="0"/>
              <a:t>로 채우는 기능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pSurface</a:t>
            </a:r>
            <a:r>
              <a:rPr lang="en-US" altLang="ko-KR" dirty="0"/>
              <a:t> – </a:t>
            </a:r>
            <a:r>
              <a:rPr lang="ko-KR" altLang="en-US" dirty="0"/>
              <a:t>색상을 칠할 대상 </a:t>
            </a:r>
            <a:r>
              <a:rPr lang="en-US" altLang="ko-KR" dirty="0"/>
              <a:t>surface</a:t>
            </a:r>
          </a:p>
          <a:p>
            <a:r>
              <a:rPr lang="en-US" altLang="ko-KR" dirty="0" err="1"/>
              <a:t>pRect</a:t>
            </a:r>
            <a:r>
              <a:rPr lang="en-US" altLang="ko-KR" dirty="0"/>
              <a:t> – </a:t>
            </a:r>
            <a:r>
              <a:rPr lang="ko-KR" altLang="en-US" dirty="0"/>
              <a:t>색상을 칠할 영역</a:t>
            </a:r>
            <a:r>
              <a:rPr lang="en-US" altLang="ko-KR" dirty="0"/>
              <a:t>. NULL </a:t>
            </a:r>
            <a:r>
              <a:rPr lang="ko-KR" altLang="en-US" dirty="0"/>
              <a:t>인 경우 </a:t>
            </a:r>
            <a:r>
              <a:rPr lang="en-US" altLang="ko-KR" dirty="0"/>
              <a:t>surface </a:t>
            </a:r>
            <a:r>
              <a:rPr lang="ko-KR" altLang="en-US" dirty="0"/>
              <a:t>전체를 영역으로 설정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color – </a:t>
            </a:r>
            <a:r>
              <a:rPr lang="ko-KR" altLang="en-US" dirty="0"/>
              <a:t>칠할 색상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492E14-7AD9-4BBD-9113-F530178C5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2199173"/>
            <a:ext cx="9348980" cy="207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72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E3C9C-4C7F-4ACD-9260-9E8D2F885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260BBC-53F5-42EB-97F3-3E4A4261E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A97426-05CA-47BF-A06D-35BFE1EF7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2" y="442912"/>
            <a:ext cx="12141038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3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B851E-B2CA-4D2C-B7E5-33F948C1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BackBuffer</a:t>
            </a:r>
            <a:r>
              <a:rPr lang="en-US" altLang="ko-KR" dirty="0"/>
              <a:t> </a:t>
            </a:r>
            <a:r>
              <a:rPr lang="ko-KR" altLang="en-US" dirty="0"/>
              <a:t>얻기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8F6DB-B620-43FE-BB17-60ABBC0ED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BackBuffer</a:t>
            </a:r>
            <a:r>
              <a:rPr lang="en-US" altLang="ko-KR" dirty="0"/>
              <a:t> – </a:t>
            </a:r>
            <a:r>
              <a:rPr lang="ko-KR" altLang="en-US" dirty="0"/>
              <a:t>얻어올 </a:t>
            </a:r>
            <a:r>
              <a:rPr lang="ko-KR" altLang="en-US" dirty="0" err="1"/>
              <a:t>백버퍼의</a:t>
            </a:r>
            <a:r>
              <a:rPr lang="ko-KR" altLang="en-US" dirty="0"/>
              <a:t> 인덱스</a:t>
            </a:r>
            <a:endParaRPr lang="en-US" altLang="ko-KR" dirty="0"/>
          </a:p>
          <a:p>
            <a:r>
              <a:rPr lang="en-US" altLang="ko-KR" dirty="0"/>
              <a:t>Type – </a:t>
            </a:r>
            <a:r>
              <a:rPr lang="ko-KR" altLang="en-US" dirty="0" err="1"/>
              <a:t>백버퍼</a:t>
            </a:r>
            <a:r>
              <a:rPr lang="ko-KR" altLang="en-US" dirty="0"/>
              <a:t> 타입</a:t>
            </a:r>
            <a:r>
              <a:rPr lang="en-US" altLang="ko-KR" dirty="0"/>
              <a:t>. </a:t>
            </a:r>
            <a:r>
              <a:rPr lang="en-US" altLang="ko-KR" dirty="0">
                <a:solidFill>
                  <a:srgbClr val="92D050"/>
                </a:solidFill>
              </a:rPr>
              <a:t>DX9</a:t>
            </a:r>
            <a:r>
              <a:rPr lang="ko-KR" altLang="en-US" dirty="0">
                <a:solidFill>
                  <a:srgbClr val="92D050"/>
                </a:solidFill>
              </a:rPr>
              <a:t>에서는 </a:t>
            </a:r>
            <a:r>
              <a:rPr lang="ko-KR" altLang="en-US" dirty="0" err="1">
                <a:solidFill>
                  <a:srgbClr val="92D050"/>
                </a:solidFill>
              </a:rPr>
              <a:t>모노</a:t>
            </a:r>
            <a:r>
              <a:rPr lang="ko-KR" altLang="en-US" dirty="0">
                <a:solidFill>
                  <a:srgbClr val="92D050"/>
                </a:solidFill>
              </a:rPr>
              <a:t> 타입만 가능</a:t>
            </a:r>
            <a:r>
              <a:rPr lang="en-US" altLang="ko-KR" dirty="0">
                <a:solidFill>
                  <a:srgbClr val="92D050"/>
                </a:solidFill>
              </a:rPr>
              <a:t> *</a:t>
            </a:r>
          </a:p>
          <a:p>
            <a:r>
              <a:rPr lang="en-US" altLang="ko-KR" dirty="0" err="1"/>
              <a:t>ppBackBuffer</a:t>
            </a:r>
            <a:r>
              <a:rPr lang="en-US" altLang="ko-KR" dirty="0"/>
              <a:t> – </a:t>
            </a:r>
            <a:r>
              <a:rPr lang="ko-KR" altLang="en-US" dirty="0"/>
              <a:t>얻어올 </a:t>
            </a:r>
            <a:r>
              <a:rPr lang="ko-KR" altLang="en-US" dirty="0" err="1"/>
              <a:t>백버퍼의</a:t>
            </a:r>
            <a:r>
              <a:rPr lang="ko-KR" altLang="en-US" dirty="0"/>
              <a:t> 인터페이스를 저장할 포인터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3DB3DF-4213-43E4-B62F-223265D1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1852612"/>
            <a:ext cx="5514975" cy="14763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8C28148-04A2-41E5-A023-F37C98834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5402707"/>
            <a:ext cx="11639550" cy="77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64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61955-8E38-493C-B0BD-4FDA04FBF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BackBuffer</a:t>
            </a:r>
            <a:r>
              <a:rPr lang="en-US" altLang="ko-KR" dirty="0"/>
              <a:t> </a:t>
            </a:r>
            <a:r>
              <a:rPr lang="ko-KR" altLang="en-US" dirty="0"/>
              <a:t>에 그리기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4520EE-C6E8-480F-A5DE-0106C5A8F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973151"/>
          </a:xfrm>
        </p:spPr>
        <p:txBody>
          <a:bodyPr/>
          <a:lstStyle/>
          <a:p>
            <a:r>
              <a:rPr lang="en-US" altLang="ko-KR" dirty="0" err="1"/>
              <a:t>StretchRect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Filter – </a:t>
            </a:r>
            <a:r>
              <a:rPr lang="ko-KR" altLang="en-US" dirty="0"/>
              <a:t>대상에 그릴 때 사용될 필터</a:t>
            </a:r>
            <a:endParaRPr lang="en-US" altLang="ko-KR" dirty="0"/>
          </a:p>
          <a:p>
            <a:pPr lvl="1"/>
            <a:r>
              <a:rPr lang="en-US" altLang="ko-KR" dirty="0"/>
              <a:t>D3DTEXF_NONE</a:t>
            </a:r>
          </a:p>
          <a:p>
            <a:pPr lvl="1"/>
            <a:r>
              <a:rPr lang="en-US" altLang="ko-KR" dirty="0"/>
              <a:t>D3DTEXF_POINT</a:t>
            </a:r>
          </a:p>
          <a:p>
            <a:pPr lvl="1"/>
            <a:r>
              <a:rPr lang="en-US" altLang="ko-KR" dirty="0"/>
              <a:t>D3DTEXF_LINEAR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873548-620D-4434-B7B6-5A1363EE9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2142574"/>
            <a:ext cx="8909415" cy="2562776"/>
          </a:xfrm>
          <a:prstGeom prst="rect">
            <a:avLst/>
          </a:prstGeom>
        </p:spPr>
      </p:pic>
      <p:sp>
        <p:nvSpPr>
          <p:cNvPr id="5" name="생각 풍선: 구름 모양 4">
            <a:extLst>
              <a:ext uri="{FF2B5EF4-FFF2-40B4-BE49-F238E27FC236}">
                <a16:creationId xmlns:a16="http://schemas.microsoft.com/office/drawing/2014/main" id="{10ADBBFF-4FCB-4D93-A26C-D27BC6513AF9}"/>
              </a:ext>
            </a:extLst>
          </p:cNvPr>
          <p:cNvSpPr/>
          <p:nvPr/>
        </p:nvSpPr>
        <p:spPr>
          <a:xfrm>
            <a:off x="7847137" y="4857749"/>
            <a:ext cx="2541864" cy="1691064"/>
          </a:xfrm>
          <a:prstGeom prst="cloudCallout">
            <a:avLst>
              <a:gd name="adj1" fmla="val -78164"/>
              <a:gd name="adj2" fmla="val 41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아직 몰라도 되지만</a:t>
            </a:r>
            <a:r>
              <a:rPr lang="en-US" altLang="ko-KR" dirty="0"/>
              <a:t>,</a:t>
            </a:r>
          </a:p>
          <a:p>
            <a:pPr algn="ctr"/>
            <a:r>
              <a:rPr lang="ko-KR" altLang="en-US" dirty="0"/>
              <a:t>궁금하면 조사해 볼 것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20118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0E3C46-4725-4A86-9D77-65CAB51B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80B4FE-DC45-4539-859A-28E1D2E72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312A62-401F-4736-BC41-36CD8F7AB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7" y="609600"/>
            <a:ext cx="12125278" cy="539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6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1C78C-C2A4-49EA-A795-95D5452F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E32EC3-C562-47F3-9B9C-1C1BE072D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F1E2FD-5E1D-4182-87A9-CB4FDDC67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988" y="1657350"/>
            <a:ext cx="7191375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49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D26954-A0C1-40B2-9A33-AE29A0A4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Surface </a:t>
            </a:r>
            <a:r>
              <a:rPr lang="ko-KR" altLang="en-US" dirty="0"/>
              <a:t>이미지 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E8CDE7-1117-49BC-BFB7-6F5BBEC80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830276"/>
          </a:xfrm>
        </p:spPr>
        <p:txBody>
          <a:bodyPr/>
          <a:lstStyle/>
          <a:p>
            <a:r>
              <a:rPr lang="ko-KR" altLang="en-US" dirty="0"/>
              <a:t>이미지 로드 함수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FE46B-D481-4A72-BFD8-A915A5ADD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2166936"/>
            <a:ext cx="5614988" cy="28866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0935D8-F64C-4519-89D1-8C4ABCCA6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787" y="5138737"/>
            <a:ext cx="10370967" cy="157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00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EEAE1-91AC-4BDD-8498-20412085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658596-F8C1-4BAD-A1B2-3E8110ECD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DE7A39-7166-4085-B3B5-A695B0ABB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93" y="0"/>
            <a:ext cx="9091613" cy="684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90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083F2-B575-4F35-B3E0-411743C3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A8C8DA-BDEE-4902-BEA3-A5886969C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AA0930-FD3D-4A05-A0A3-4FEC8A490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638" y="1732449"/>
            <a:ext cx="66960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61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E16BF58-979E-4FEF-8B6C-C9CD4C8E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코딩 실습 과</a:t>
            </a:r>
            <a:r>
              <a:rPr lang="en-US" altLang="ko-KR" dirty="0"/>
              <a:t> Q&amp;A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A542E3B-C810-4E81-9100-DB052921E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4354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강의용테마1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강의용테마1" id="{BF7E2A3C-9829-41B0-A0F9-D7AA426B94BA}" vid="{AB66B136-7DED-41CF-88C9-B1717F734A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강의용테마1</Template>
  <TotalTime>644</TotalTime>
  <Words>305</Words>
  <Application>Microsoft Office PowerPoint</Application>
  <PresentationFormat>와이드스크린</PresentationFormat>
  <Paragraphs>76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돋움</vt:lpstr>
      <vt:lpstr>Calisto MT</vt:lpstr>
      <vt:lpstr>Trebuchet MS</vt:lpstr>
      <vt:lpstr>Wingdings</vt:lpstr>
      <vt:lpstr>Wingdings 2</vt:lpstr>
      <vt:lpstr>강의용테마1</vt:lpstr>
      <vt:lpstr>Lesson #4</vt:lpstr>
      <vt:lpstr>차례</vt:lpstr>
      <vt:lpstr>Surface</vt:lpstr>
      <vt:lpstr>Surface</vt:lpstr>
      <vt:lpstr>Offscreen Surface</vt:lpstr>
      <vt:lpstr>PowerPoint 프레젠테이션</vt:lpstr>
      <vt:lpstr>Surface 색상 칠하기</vt:lpstr>
      <vt:lpstr>PowerPoint 프레젠테이션</vt:lpstr>
      <vt:lpstr>BackBuffer 얻기</vt:lpstr>
      <vt:lpstr>BackBuffer 에 그리기</vt:lpstr>
      <vt:lpstr>PowerPoint 프레젠테이션</vt:lpstr>
      <vt:lpstr>중간 결과</vt:lpstr>
      <vt:lpstr>Surface 이미지 로드</vt:lpstr>
      <vt:lpstr>PowerPoint 프레젠테이션</vt:lpstr>
      <vt:lpstr>결과</vt:lpstr>
      <vt:lpstr>코딩 실습 과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김안석</dc:creator>
  <cp:lastModifiedBy>김안석</cp:lastModifiedBy>
  <cp:revision>13</cp:revision>
  <dcterms:created xsi:type="dcterms:W3CDTF">2018-01-01T04:08:58Z</dcterms:created>
  <dcterms:modified xsi:type="dcterms:W3CDTF">2018-01-12T12:41:38Z</dcterms:modified>
</cp:coreProperties>
</file>